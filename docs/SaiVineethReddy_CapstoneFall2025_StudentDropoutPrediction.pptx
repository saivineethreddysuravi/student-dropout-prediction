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540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3A4A28-8AE4-4B2C-B980-7A2810EDDB7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558D22-9A03-4B35-AD44-D297DDAA8028}">
      <dgm:prSet/>
      <dgm:spPr/>
      <dgm:t>
        <a:bodyPr/>
        <a:lstStyle/>
        <a:p>
          <a:r>
            <a:rPr lang="en-US"/>
            <a:t>Preprocessing, train-test split.</a:t>
          </a:r>
        </a:p>
      </dgm:t>
    </dgm:pt>
    <dgm:pt modelId="{DF9574F7-8654-4912-B8D8-CC6FBDD96A1D}" type="parTrans" cxnId="{8065E48F-857D-4CD3-A64A-EAB961CEF78B}">
      <dgm:prSet/>
      <dgm:spPr/>
      <dgm:t>
        <a:bodyPr/>
        <a:lstStyle/>
        <a:p>
          <a:endParaRPr lang="en-US"/>
        </a:p>
      </dgm:t>
    </dgm:pt>
    <dgm:pt modelId="{2B90434A-4B67-4BBE-857C-4EE03C9EEDFB}" type="sibTrans" cxnId="{8065E48F-857D-4CD3-A64A-EAB961CEF78B}">
      <dgm:prSet/>
      <dgm:spPr/>
      <dgm:t>
        <a:bodyPr/>
        <a:lstStyle/>
        <a:p>
          <a:endParaRPr lang="en-US"/>
        </a:p>
      </dgm:t>
    </dgm:pt>
    <dgm:pt modelId="{E805D661-9E42-470E-845D-71C69CA66AD5}">
      <dgm:prSet/>
      <dgm:spPr/>
      <dgm:t>
        <a:bodyPr/>
        <a:lstStyle/>
        <a:p>
          <a:r>
            <a:rPr lang="en-US"/>
            <a:t>Models: LR, Random Forest, Gradient Boosting, SVC.</a:t>
          </a:r>
        </a:p>
      </dgm:t>
    </dgm:pt>
    <dgm:pt modelId="{5534D430-1B43-42A4-81C9-1621BDAC532E}" type="parTrans" cxnId="{A52BFC6D-BA11-4076-B2D1-B527468F5704}">
      <dgm:prSet/>
      <dgm:spPr/>
      <dgm:t>
        <a:bodyPr/>
        <a:lstStyle/>
        <a:p>
          <a:endParaRPr lang="en-US"/>
        </a:p>
      </dgm:t>
    </dgm:pt>
    <dgm:pt modelId="{C4221BF0-3469-4C71-9390-D1A0BA726FE2}" type="sibTrans" cxnId="{A52BFC6D-BA11-4076-B2D1-B527468F5704}">
      <dgm:prSet/>
      <dgm:spPr/>
      <dgm:t>
        <a:bodyPr/>
        <a:lstStyle/>
        <a:p>
          <a:endParaRPr lang="en-US"/>
        </a:p>
      </dgm:t>
    </dgm:pt>
    <dgm:pt modelId="{4198A16B-10F1-4E25-8C4B-B9647BACDF11}">
      <dgm:prSet/>
      <dgm:spPr/>
      <dgm:t>
        <a:bodyPr/>
        <a:lstStyle/>
        <a:p>
          <a:r>
            <a:rPr lang="en-US"/>
            <a:t>Best model: Gradient Boosting (saved as .pkl).</a:t>
          </a:r>
        </a:p>
      </dgm:t>
    </dgm:pt>
    <dgm:pt modelId="{AE50BDEC-5273-440E-AD59-001D9ADBD0FE}" type="parTrans" cxnId="{52EB4B06-D0EC-48ED-BCC9-4EC728BA26C7}">
      <dgm:prSet/>
      <dgm:spPr/>
      <dgm:t>
        <a:bodyPr/>
        <a:lstStyle/>
        <a:p>
          <a:endParaRPr lang="en-US"/>
        </a:p>
      </dgm:t>
    </dgm:pt>
    <dgm:pt modelId="{6077E0E0-6987-4E61-8BEA-9FAFA7FB9DC9}" type="sibTrans" cxnId="{52EB4B06-D0EC-48ED-BCC9-4EC728BA26C7}">
      <dgm:prSet/>
      <dgm:spPr/>
      <dgm:t>
        <a:bodyPr/>
        <a:lstStyle/>
        <a:p>
          <a:endParaRPr lang="en-US"/>
        </a:p>
      </dgm:t>
    </dgm:pt>
    <dgm:pt modelId="{889294F7-B000-42B6-888A-1C85B452CDD2}" type="pres">
      <dgm:prSet presAssocID="{833A4A28-8AE4-4B2C-B980-7A2810EDDB79}" presName="linear" presStyleCnt="0">
        <dgm:presLayoutVars>
          <dgm:animLvl val="lvl"/>
          <dgm:resizeHandles val="exact"/>
        </dgm:presLayoutVars>
      </dgm:prSet>
      <dgm:spPr/>
    </dgm:pt>
    <dgm:pt modelId="{B4290CF0-B63F-4F48-BFFC-557A11DB1D08}" type="pres">
      <dgm:prSet presAssocID="{E4558D22-9A03-4B35-AD44-D297DDAA802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CAA341-EADB-4152-97CF-C21B8D97F213}" type="pres">
      <dgm:prSet presAssocID="{2B90434A-4B67-4BBE-857C-4EE03C9EEDFB}" presName="spacer" presStyleCnt="0"/>
      <dgm:spPr/>
    </dgm:pt>
    <dgm:pt modelId="{B7BE6976-7CF6-4E76-9906-4965C1392515}" type="pres">
      <dgm:prSet presAssocID="{E805D661-9E42-470E-845D-71C69CA66A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66D114-5C99-4BA5-B159-CAC481F3DE19}" type="pres">
      <dgm:prSet presAssocID="{C4221BF0-3469-4C71-9390-D1A0BA726FE2}" presName="spacer" presStyleCnt="0"/>
      <dgm:spPr/>
    </dgm:pt>
    <dgm:pt modelId="{F7482A1B-1356-40D4-9EBA-5C6B487D8AD3}" type="pres">
      <dgm:prSet presAssocID="{4198A16B-10F1-4E25-8C4B-B9647BACDF1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2EB4B06-D0EC-48ED-BCC9-4EC728BA26C7}" srcId="{833A4A28-8AE4-4B2C-B980-7A2810EDDB79}" destId="{4198A16B-10F1-4E25-8C4B-B9647BACDF11}" srcOrd="2" destOrd="0" parTransId="{AE50BDEC-5273-440E-AD59-001D9ADBD0FE}" sibTransId="{6077E0E0-6987-4E61-8BEA-9FAFA7FB9DC9}"/>
    <dgm:cxn modelId="{AAC6DE3E-2538-4047-B77B-07B1B0D9AB22}" type="presOf" srcId="{E4558D22-9A03-4B35-AD44-D297DDAA8028}" destId="{B4290CF0-B63F-4F48-BFFC-557A11DB1D08}" srcOrd="0" destOrd="0" presId="urn:microsoft.com/office/officeart/2005/8/layout/vList2"/>
    <dgm:cxn modelId="{C5B2056D-8CF5-4328-AA38-5E5A894EB8D9}" type="presOf" srcId="{833A4A28-8AE4-4B2C-B980-7A2810EDDB79}" destId="{889294F7-B000-42B6-888A-1C85B452CDD2}" srcOrd="0" destOrd="0" presId="urn:microsoft.com/office/officeart/2005/8/layout/vList2"/>
    <dgm:cxn modelId="{A52BFC6D-BA11-4076-B2D1-B527468F5704}" srcId="{833A4A28-8AE4-4B2C-B980-7A2810EDDB79}" destId="{E805D661-9E42-470E-845D-71C69CA66AD5}" srcOrd="1" destOrd="0" parTransId="{5534D430-1B43-42A4-81C9-1621BDAC532E}" sibTransId="{C4221BF0-3469-4C71-9390-D1A0BA726FE2}"/>
    <dgm:cxn modelId="{050ED858-F0B7-41CF-B1DC-BA4B1DD71054}" type="presOf" srcId="{E805D661-9E42-470E-845D-71C69CA66AD5}" destId="{B7BE6976-7CF6-4E76-9906-4965C1392515}" srcOrd="0" destOrd="0" presId="urn:microsoft.com/office/officeart/2005/8/layout/vList2"/>
    <dgm:cxn modelId="{8065E48F-857D-4CD3-A64A-EAB961CEF78B}" srcId="{833A4A28-8AE4-4B2C-B980-7A2810EDDB79}" destId="{E4558D22-9A03-4B35-AD44-D297DDAA8028}" srcOrd="0" destOrd="0" parTransId="{DF9574F7-8654-4912-B8D8-CC6FBDD96A1D}" sibTransId="{2B90434A-4B67-4BBE-857C-4EE03C9EEDFB}"/>
    <dgm:cxn modelId="{B07D02E9-46C2-4E3C-B9ED-36FF6B781E94}" type="presOf" srcId="{4198A16B-10F1-4E25-8C4B-B9647BACDF11}" destId="{F7482A1B-1356-40D4-9EBA-5C6B487D8AD3}" srcOrd="0" destOrd="0" presId="urn:microsoft.com/office/officeart/2005/8/layout/vList2"/>
    <dgm:cxn modelId="{9E8B96BC-0849-4ECE-9764-5901D43C738E}" type="presParOf" srcId="{889294F7-B000-42B6-888A-1C85B452CDD2}" destId="{B4290CF0-B63F-4F48-BFFC-557A11DB1D08}" srcOrd="0" destOrd="0" presId="urn:microsoft.com/office/officeart/2005/8/layout/vList2"/>
    <dgm:cxn modelId="{357F76E2-B832-4D46-BD3B-6DF1AE44060B}" type="presParOf" srcId="{889294F7-B000-42B6-888A-1C85B452CDD2}" destId="{A4CAA341-EADB-4152-97CF-C21B8D97F213}" srcOrd="1" destOrd="0" presId="urn:microsoft.com/office/officeart/2005/8/layout/vList2"/>
    <dgm:cxn modelId="{16AEF638-180B-4FF4-B553-D285E544D581}" type="presParOf" srcId="{889294F7-B000-42B6-888A-1C85B452CDD2}" destId="{B7BE6976-7CF6-4E76-9906-4965C1392515}" srcOrd="2" destOrd="0" presId="urn:microsoft.com/office/officeart/2005/8/layout/vList2"/>
    <dgm:cxn modelId="{DC46F72A-109C-45D4-8283-9B09C645A8E7}" type="presParOf" srcId="{889294F7-B000-42B6-888A-1C85B452CDD2}" destId="{3766D114-5C99-4BA5-B159-CAC481F3DE19}" srcOrd="3" destOrd="0" presId="urn:microsoft.com/office/officeart/2005/8/layout/vList2"/>
    <dgm:cxn modelId="{9B01A48A-6D31-4733-B8DC-15089B931BCE}" type="presParOf" srcId="{889294F7-B000-42B6-888A-1C85B452CDD2}" destId="{F7482A1B-1356-40D4-9EBA-5C6B487D8A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0D376F-B869-47C9-AFD1-9346E82A3F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67F0D6-ABA9-485A-B496-0C2F26DFEF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Accuracy: overall correctness.</a:t>
          </a:r>
        </a:p>
      </dgm:t>
    </dgm:pt>
    <dgm:pt modelId="{E966C04D-7CBF-4799-89D6-0C6109D81FA7}" type="parTrans" cxnId="{A10DE768-CC24-47E9-AEA5-C4FAE38DC8F7}">
      <dgm:prSet/>
      <dgm:spPr/>
      <dgm:t>
        <a:bodyPr/>
        <a:lstStyle/>
        <a:p>
          <a:endParaRPr lang="en-US"/>
        </a:p>
      </dgm:t>
    </dgm:pt>
    <dgm:pt modelId="{79ACBBE5-4C1A-4AA7-9302-C3BA0619790A}" type="sibTrans" cxnId="{A10DE768-CC24-47E9-AEA5-C4FAE38DC8F7}">
      <dgm:prSet/>
      <dgm:spPr/>
      <dgm:t>
        <a:bodyPr/>
        <a:lstStyle/>
        <a:p>
          <a:endParaRPr lang="en-US"/>
        </a:p>
      </dgm:t>
    </dgm:pt>
    <dgm:pt modelId="{6FFAD9A1-37B7-488E-91E6-8E75410217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Precision (macro): correctness of positives across classes.</a:t>
          </a:r>
        </a:p>
      </dgm:t>
    </dgm:pt>
    <dgm:pt modelId="{589423F6-F786-4DCA-8CAD-5EBAB0C28078}" type="parTrans" cxnId="{CFF25BD2-D6FD-4BCB-8BB5-D1FADFB2230B}">
      <dgm:prSet/>
      <dgm:spPr/>
      <dgm:t>
        <a:bodyPr/>
        <a:lstStyle/>
        <a:p>
          <a:endParaRPr lang="en-US"/>
        </a:p>
      </dgm:t>
    </dgm:pt>
    <dgm:pt modelId="{D29D5205-DB1C-4531-900C-9410B274FCCC}" type="sibTrans" cxnId="{CFF25BD2-D6FD-4BCB-8BB5-D1FADFB2230B}">
      <dgm:prSet/>
      <dgm:spPr/>
      <dgm:t>
        <a:bodyPr/>
        <a:lstStyle/>
        <a:p>
          <a:endParaRPr lang="en-US"/>
        </a:p>
      </dgm:t>
    </dgm:pt>
    <dgm:pt modelId="{A40711FE-3FA4-4C36-A057-F6B459BA64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Recall (macro): ability to find true instances.</a:t>
          </a:r>
        </a:p>
      </dgm:t>
    </dgm:pt>
    <dgm:pt modelId="{DF8DD18E-20C2-4978-9522-D063D4C220E1}" type="parTrans" cxnId="{43C8E769-C013-4304-B831-341347409A7F}">
      <dgm:prSet/>
      <dgm:spPr/>
      <dgm:t>
        <a:bodyPr/>
        <a:lstStyle/>
        <a:p>
          <a:endParaRPr lang="en-US"/>
        </a:p>
      </dgm:t>
    </dgm:pt>
    <dgm:pt modelId="{DAE3A6A1-959A-45CF-8CAE-7DA6D97194D2}" type="sibTrans" cxnId="{43C8E769-C013-4304-B831-341347409A7F}">
      <dgm:prSet/>
      <dgm:spPr/>
      <dgm:t>
        <a:bodyPr/>
        <a:lstStyle/>
        <a:p>
          <a:endParaRPr lang="en-US"/>
        </a:p>
      </dgm:t>
    </dgm:pt>
    <dgm:pt modelId="{15F78EA0-61C5-4E62-88DB-0D5D0C651B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F1 (macro): harmonic mean of precision &amp; recall.</a:t>
          </a:r>
        </a:p>
      </dgm:t>
    </dgm:pt>
    <dgm:pt modelId="{F827EAD8-5954-442D-86DF-C289EA9BDF13}" type="parTrans" cxnId="{BE3EA7BF-645C-4503-9708-958BE4040D3A}">
      <dgm:prSet/>
      <dgm:spPr/>
      <dgm:t>
        <a:bodyPr/>
        <a:lstStyle/>
        <a:p>
          <a:endParaRPr lang="en-US"/>
        </a:p>
      </dgm:t>
    </dgm:pt>
    <dgm:pt modelId="{48CEDBE8-A4D4-45D6-93E8-0C92771CABFC}" type="sibTrans" cxnId="{BE3EA7BF-645C-4503-9708-958BE4040D3A}">
      <dgm:prSet/>
      <dgm:spPr/>
      <dgm:t>
        <a:bodyPr/>
        <a:lstStyle/>
        <a:p>
          <a:endParaRPr lang="en-US"/>
        </a:p>
      </dgm:t>
    </dgm:pt>
    <dgm:pt modelId="{0DA77CCE-A870-41A8-91B4-27F3593E8314}" type="pres">
      <dgm:prSet presAssocID="{C80D376F-B869-47C9-AFD1-9346E82A3F45}" presName="root" presStyleCnt="0">
        <dgm:presLayoutVars>
          <dgm:dir/>
          <dgm:resizeHandles val="exact"/>
        </dgm:presLayoutVars>
      </dgm:prSet>
      <dgm:spPr/>
    </dgm:pt>
    <dgm:pt modelId="{5E64E662-93E1-496F-AC9A-A17FC0797F88}" type="pres">
      <dgm:prSet presAssocID="{EA67F0D6-ABA9-485A-B496-0C2F26DFEFBC}" presName="compNode" presStyleCnt="0"/>
      <dgm:spPr/>
    </dgm:pt>
    <dgm:pt modelId="{E6B5EE63-2BF0-44E4-9AA2-76E9AD81BA9E}" type="pres">
      <dgm:prSet presAssocID="{EA67F0D6-ABA9-485A-B496-0C2F26DFEFBC}" presName="bgRect" presStyleLbl="bgShp" presStyleIdx="0" presStyleCnt="4"/>
      <dgm:spPr/>
    </dgm:pt>
    <dgm:pt modelId="{367186B1-8E76-4A1F-9FB1-2E5B8AD539C5}" type="pres">
      <dgm:prSet presAssocID="{EA67F0D6-ABA9-485A-B496-0C2F26DFEF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15558A7-134F-4031-803C-C90B5AB5E962}" type="pres">
      <dgm:prSet presAssocID="{EA67F0D6-ABA9-485A-B496-0C2F26DFEFBC}" presName="spaceRect" presStyleCnt="0"/>
      <dgm:spPr/>
    </dgm:pt>
    <dgm:pt modelId="{945BAB94-3971-4434-A4AE-A3DE40C8C259}" type="pres">
      <dgm:prSet presAssocID="{EA67F0D6-ABA9-485A-B496-0C2F26DFEFBC}" presName="parTx" presStyleLbl="revTx" presStyleIdx="0" presStyleCnt="4">
        <dgm:presLayoutVars>
          <dgm:chMax val="0"/>
          <dgm:chPref val="0"/>
        </dgm:presLayoutVars>
      </dgm:prSet>
      <dgm:spPr/>
    </dgm:pt>
    <dgm:pt modelId="{7AC209F9-CBE8-4951-B6B2-85E813340451}" type="pres">
      <dgm:prSet presAssocID="{79ACBBE5-4C1A-4AA7-9302-C3BA0619790A}" presName="sibTrans" presStyleCnt="0"/>
      <dgm:spPr/>
    </dgm:pt>
    <dgm:pt modelId="{90EC602C-F708-4480-8F2F-EB17F5119ACF}" type="pres">
      <dgm:prSet presAssocID="{6FFAD9A1-37B7-488E-91E6-8E7541021784}" presName="compNode" presStyleCnt="0"/>
      <dgm:spPr/>
    </dgm:pt>
    <dgm:pt modelId="{0C7434C9-7383-4C12-A240-62E42D9079E0}" type="pres">
      <dgm:prSet presAssocID="{6FFAD9A1-37B7-488E-91E6-8E7541021784}" presName="bgRect" presStyleLbl="bgShp" presStyleIdx="1" presStyleCnt="4"/>
      <dgm:spPr/>
    </dgm:pt>
    <dgm:pt modelId="{665FD511-9EFE-4523-92AB-848C5ABAA9CF}" type="pres">
      <dgm:prSet presAssocID="{6FFAD9A1-37B7-488E-91E6-8E75410217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43A96CD-AE29-429B-BD36-9ECCF51126DF}" type="pres">
      <dgm:prSet presAssocID="{6FFAD9A1-37B7-488E-91E6-8E7541021784}" presName="spaceRect" presStyleCnt="0"/>
      <dgm:spPr/>
    </dgm:pt>
    <dgm:pt modelId="{D38FF6EB-5868-4F87-B4B5-C01F620BC3E2}" type="pres">
      <dgm:prSet presAssocID="{6FFAD9A1-37B7-488E-91E6-8E7541021784}" presName="parTx" presStyleLbl="revTx" presStyleIdx="1" presStyleCnt="4">
        <dgm:presLayoutVars>
          <dgm:chMax val="0"/>
          <dgm:chPref val="0"/>
        </dgm:presLayoutVars>
      </dgm:prSet>
      <dgm:spPr/>
    </dgm:pt>
    <dgm:pt modelId="{382AAB41-B72D-4F96-B06D-10507D7BF1D0}" type="pres">
      <dgm:prSet presAssocID="{D29D5205-DB1C-4531-900C-9410B274FCCC}" presName="sibTrans" presStyleCnt="0"/>
      <dgm:spPr/>
    </dgm:pt>
    <dgm:pt modelId="{D8936687-5C82-434B-AE20-26B04EB9D430}" type="pres">
      <dgm:prSet presAssocID="{A40711FE-3FA4-4C36-A057-F6B459BA64D3}" presName="compNode" presStyleCnt="0"/>
      <dgm:spPr/>
    </dgm:pt>
    <dgm:pt modelId="{8DBB9517-D428-4904-97DF-AAAB225984D0}" type="pres">
      <dgm:prSet presAssocID="{A40711FE-3FA4-4C36-A057-F6B459BA64D3}" presName="bgRect" presStyleLbl="bgShp" presStyleIdx="2" presStyleCnt="4"/>
      <dgm:spPr/>
    </dgm:pt>
    <dgm:pt modelId="{FA9C321E-B982-485D-AB73-0647A1E473CB}" type="pres">
      <dgm:prSet presAssocID="{A40711FE-3FA4-4C36-A057-F6B459BA64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F4EAAC8-705E-4CBC-B9E9-2B33CE1419D2}" type="pres">
      <dgm:prSet presAssocID="{A40711FE-3FA4-4C36-A057-F6B459BA64D3}" presName="spaceRect" presStyleCnt="0"/>
      <dgm:spPr/>
    </dgm:pt>
    <dgm:pt modelId="{5781EEE0-671A-432C-B154-0B3F5FF9C4B3}" type="pres">
      <dgm:prSet presAssocID="{A40711FE-3FA4-4C36-A057-F6B459BA64D3}" presName="parTx" presStyleLbl="revTx" presStyleIdx="2" presStyleCnt="4">
        <dgm:presLayoutVars>
          <dgm:chMax val="0"/>
          <dgm:chPref val="0"/>
        </dgm:presLayoutVars>
      </dgm:prSet>
      <dgm:spPr/>
    </dgm:pt>
    <dgm:pt modelId="{3225A5CB-74B2-433A-88F4-0890FAD694F2}" type="pres">
      <dgm:prSet presAssocID="{DAE3A6A1-959A-45CF-8CAE-7DA6D97194D2}" presName="sibTrans" presStyleCnt="0"/>
      <dgm:spPr/>
    </dgm:pt>
    <dgm:pt modelId="{8DDD1148-8693-4B50-BC5B-3B683A7D06BA}" type="pres">
      <dgm:prSet presAssocID="{15F78EA0-61C5-4E62-88DB-0D5D0C651BF8}" presName="compNode" presStyleCnt="0"/>
      <dgm:spPr/>
    </dgm:pt>
    <dgm:pt modelId="{7B5DDAFD-4BAE-4B50-B82A-BD169FE3751F}" type="pres">
      <dgm:prSet presAssocID="{15F78EA0-61C5-4E62-88DB-0D5D0C651BF8}" presName="bgRect" presStyleLbl="bgShp" presStyleIdx="3" presStyleCnt="4"/>
      <dgm:spPr/>
    </dgm:pt>
    <dgm:pt modelId="{57F43250-4D01-4EB5-9159-123D502B8038}" type="pres">
      <dgm:prSet presAssocID="{15F78EA0-61C5-4E62-88DB-0D5D0C651B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CC86CC0C-5177-42AA-AE65-3E828DF7188E}" type="pres">
      <dgm:prSet presAssocID="{15F78EA0-61C5-4E62-88DB-0D5D0C651BF8}" presName="spaceRect" presStyleCnt="0"/>
      <dgm:spPr/>
    </dgm:pt>
    <dgm:pt modelId="{4D852894-ABAD-4F42-816A-D9230B68905A}" type="pres">
      <dgm:prSet presAssocID="{15F78EA0-61C5-4E62-88DB-0D5D0C651B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4B3D3C-E593-4EED-A219-49AFC60C2D6C}" type="presOf" srcId="{6FFAD9A1-37B7-488E-91E6-8E7541021784}" destId="{D38FF6EB-5868-4F87-B4B5-C01F620BC3E2}" srcOrd="0" destOrd="0" presId="urn:microsoft.com/office/officeart/2018/2/layout/IconVerticalSolidList"/>
    <dgm:cxn modelId="{133C085C-3966-4340-84D7-D0310DE0715B}" type="presOf" srcId="{C80D376F-B869-47C9-AFD1-9346E82A3F45}" destId="{0DA77CCE-A870-41A8-91B4-27F3593E8314}" srcOrd="0" destOrd="0" presId="urn:microsoft.com/office/officeart/2018/2/layout/IconVerticalSolidList"/>
    <dgm:cxn modelId="{A10DE768-CC24-47E9-AEA5-C4FAE38DC8F7}" srcId="{C80D376F-B869-47C9-AFD1-9346E82A3F45}" destId="{EA67F0D6-ABA9-485A-B496-0C2F26DFEFBC}" srcOrd="0" destOrd="0" parTransId="{E966C04D-7CBF-4799-89D6-0C6109D81FA7}" sibTransId="{79ACBBE5-4C1A-4AA7-9302-C3BA0619790A}"/>
    <dgm:cxn modelId="{43C8E769-C013-4304-B831-341347409A7F}" srcId="{C80D376F-B869-47C9-AFD1-9346E82A3F45}" destId="{A40711FE-3FA4-4C36-A057-F6B459BA64D3}" srcOrd="2" destOrd="0" parTransId="{DF8DD18E-20C2-4978-9522-D063D4C220E1}" sibTransId="{DAE3A6A1-959A-45CF-8CAE-7DA6D97194D2}"/>
    <dgm:cxn modelId="{06A9A88F-9D45-4666-9FC3-6CC8EB742D70}" type="presOf" srcId="{15F78EA0-61C5-4E62-88DB-0D5D0C651BF8}" destId="{4D852894-ABAD-4F42-816A-D9230B68905A}" srcOrd="0" destOrd="0" presId="urn:microsoft.com/office/officeart/2018/2/layout/IconVerticalSolidList"/>
    <dgm:cxn modelId="{59F2B992-B7C3-4F24-8C5C-5574B576F182}" type="presOf" srcId="{EA67F0D6-ABA9-485A-B496-0C2F26DFEFBC}" destId="{945BAB94-3971-4434-A4AE-A3DE40C8C259}" srcOrd="0" destOrd="0" presId="urn:microsoft.com/office/officeart/2018/2/layout/IconVerticalSolidList"/>
    <dgm:cxn modelId="{20CE71B9-3E81-4875-9C45-3E02F9E1BF40}" type="presOf" srcId="{A40711FE-3FA4-4C36-A057-F6B459BA64D3}" destId="{5781EEE0-671A-432C-B154-0B3F5FF9C4B3}" srcOrd="0" destOrd="0" presId="urn:microsoft.com/office/officeart/2018/2/layout/IconVerticalSolidList"/>
    <dgm:cxn modelId="{BE3EA7BF-645C-4503-9708-958BE4040D3A}" srcId="{C80D376F-B869-47C9-AFD1-9346E82A3F45}" destId="{15F78EA0-61C5-4E62-88DB-0D5D0C651BF8}" srcOrd="3" destOrd="0" parTransId="{F827EAD8-5954-442D-86DF-C289EA9BDF13}" sibTransId="{48CEDBE8-A4D4-45D6-93E8-0C92771CABFC}"/>
    <dgm:cxn modelId="{CFF25BD2-D6FD-4BCB-8BB5-D1FADFB2230B}" srcId="{C80D376F-B869-47C9-AFD1-9346E82A3F45}" destId="{6FFAD9A1-37B7-488E-91E6-8E7541021784}" srcOrd="1" destOrd="0" parTransId="{589423F6-F786-4DCA-8CAD-5EBAB0C28078}" sibTransId="{D29D5205-DB1C-4531-900C-9410B274FCCC}"/>
    <dgm:cxn modelId="{05F0E0BB-9EBB-4F03-8386-10F05EB9FFEE}" type="presParOf" srcId="{0DA77CCE-A870-41A8-91B4-27F3593E8314}" destId="{5E64E662-93E1-496F-AC9A-A17FC0797F88}" srcOrd="0" destOrd="0" presId="urn:microsoft.com/office/officeart/2018/2/layout/IconVerticalSolidList"/>
    <dgm:cxn modelId="{B0B3FC6E-AE1A-42C1-8A7A-4CDC9FB2DD9A}" type="presParOf" srcId="{5E64E662-93E1-496F-AC9A-A17FC0797F88}" destId="{E6B5EE63-2BF0-44E4-9AA2-76E9AD81BA9E}" srcOrd="0" destOrd="0" presId="urn:microsoft.com/office/officeart/2018/2/layout/IconVerticalSolidList"/>
    <dgm:cxn modelId="{A5E0B39B-DBA4-4879-BB38-578C42151B40}" type="presParOf" srcId="{5E64E662-93E1-496F-AC9A-A17FC0797F88}" destId="{367186B1-8E76-4A1F-9FB1-2E5B8AD539C5}" srcOrd="1" destOrd="0" presId="urn:microsoft.com/office/officeart/2018/2/layout/IconVerticalSolidList"/>
    <dgm:cxn modelId="{D1274FDE-F980-4981-9338-D7A7D6DDC372}" type="presParOf" srcId="{5E64E662-93E1-496F-AC9A-A17FC0797F88}" destId="{115558A7-134F-4031-803C-C90B5AB5E962}" srcOrd="2" destOrd="0" presId="urn:microsoft.com/office/officeart/2018/2/layout/IconVerticalSolidList"/>
    <dgm:cxn modelId="{D1C4B56F-6BD9-48F8-B1E7-433DC8D55CAA}" type="presParOf" srcId="{5E64E662-93E1-496F-AC9A-A17FC0797F88}" destId="{945BAB94-3971-4434-A4AE-A3DE40C8C259}" srcOrd="3" destOrd="0" presId="urn:microsoft.com/office/officeart/2018/2/layout/IconVerticalSolidList"/>
    <dgm:cxn modelId="{94324146-DA50-4117-86CE-CA704AD0A843}" type="presParOf" srcId="{0DA77CCE-A870-41A8-91B4-27F3593E8314}" destId="{7AC209F9-CBE8-4951-B6B2-85E813340451}" srcOrd="1" destOrd="0" presId="urn:microsoft.com/office/officeart/2018/2/layout/IconVerticalSolidList"/>
    <dgm:cxn modelId="{07DA83E5-7E9C-4E1B-89C5-76835C5E501C}" type="presParOf" srcId="{0DA77CCE-A870-41A8-91B4-27F3593E8314}" destId="{90EC602C-F708-4480-8F2F-EB17F5119ACF}" srcOrd="2" destOrd="0" presId="urn:microsoft.com/office/officeart/2018/2/layout/IconVerticalSolidList"/>
    <dgm:cxn modelId="{F938F571-5CA0-42BE-B71A-5FCD7C9E6D24}" type="presParOf" srcId="{90EC602C-F708-4480-8F2F-EB17F5119ACF}" destId="{0C7434C9-7383-4C12-A240-62E42D9079E0}" srcOrd="0" destOrd="0" presId="urn:microsoft.com/office/officeart/2018/2/layout/IconVerticalSolidList"/>
    <dgm:cxn modelId="{7D2F4E1A-8AE3-4E88-94C9-8FB1D12446B2}" type="presParOf" srcId="{90EC602C-F708-4480-8F2F-EB17F5119ACF}" destId="{665FD511-9EFE-4523-92AB-848C5ABAA9CF}" srcOrd="1" destOrd="0" presId="urn:microsoft.com/office/officeart/2018/2/layout/IconVerticalSolidList"/>
    <dgm:cxn modelId="{55DF5BA8-2800-4884-B53A-846E60252775}" type="presParOf" srcId="{90EC602C-F708-4480-8F2F-EB17F5119ACF}" destId="{743A96CD-AE29-429B-BD36-9ECCF51126DF}" srcOrd="2" destOrd="0" presId="urn:microsoft.com/office/officeart/2018/2/layout/IconVerticalSolidList"/>
    <dgm:cxn modelId="{6B5B1975-A01B-4088-9061-9F0E2D207488}" type="presParOf" srcId="{90EC602C-F708-4480-8F2F-EB17F5119ACF}" destId="{D38FF6EB-5868-4F87-B4B5-C01F620BC3E2}" srcOrd="3" destOrd="0" presId="urn:microsoft.com/office/officeart/2018/2/layout/IconVerticalSolidList"/>
    <dgm:cxn modelId="{84521002-E418-435F-9F91-854C6F8EA21E}" type="presParOf" srcId="{0DA77CCE-A870-41A8-91B4-27F3593E8314}" destId="{382AAB41-B72D-4F96-B06D-10507D7BF1D0}" srcOrd="3" destOrd="0" presId="urn:microsoft.com/office/officeart/2018/2/layout/IconVerticalSolidList"/>
    <dgm:cxn modelId="{24F48668-7174-4B53-A00A-9F68F860BED1}" type="presParOf" srcId="{0DA77CCE-A870-41A8-91B4-27F3593E8314}" destId="{D8936687-5C82-434B-AE20-26B04EB9D430}" srcOrd="4" destOrd="0" presId="urn:microsoft.com/office/officeart/2018/2/layout/IconVerticalSolidList"/>
    <dgm:cxn modelId="{511E5092-113B-44A1-BCE6-784EBF097F57}" type="presParOf" srcId="{D8936687-5C82-434B-AE20-26B04EB9D430}" destId="{8DBB9517-D428-4904-97DF-AAAB225984D0}" srcOrd="0" destOrd="0" presId="urn:microsoft.com/office/officeart/2018/2/layout/IconVerticalSolidList"/>
    <dgm:cxn modelId="{246EA108-0AF7-4B3A-8EB3-C916C98324C6}" type="presParOf" srcId="{D8936687-5C82-434B-AE20-26B04EB9D430}" destId="{FA9C321E-B982-485D-AB73-0647A1E473CB}" srcOrd="1" destOrd="0" presId="urn:microsoft.com/office/officeart/2018/2/layout/IconVerticalSolidList"/>
    <dgm:cxn modelId="{D0EBDF48-4763-4D2E-8C3C-D2D93696AF52}" type="presParOf" srcId="{D8936687-5C82-434B-AE20-26B04EB9D430}" destId="{1F4EAAC8-705E-4CBC-B9E9-2B33CE1419D2}" srcOrd="2" destOrd="0" presId="urn:microsoft.com/office/officeart/2018/2/layout/IconVerticalSolidList"/>
    <dgm:cxn modelId="{3C43808D-9EF7-4658-BC92-D7093FABC019}" type="presParOf" srcId="{D8936687-5C82-434B-AE20-26B04EB9D430}" destId="{5781EEE0-671A-432C-B154-0B3F5FF9C4B3}" srcOrd="3" destOrd="0" presId="urn:microsoft.com/office/officeart/2018/2/layout/IconVerticalSolidList"/>
    <dgm:cxn modelId="{F5280488-F022-40FC-B575-9793628A4001}" type="presParOf" srcId="{0DA77CCE-A870-41A8-91B4-27F3593E8314}" destId="{3225A5CB-74B2-433A-88F4-0890FAD694F2}" srcOrd="5" destOrd="0" presId="urn:microsoft.com/office/officeart/2018/2/layout/IconVerticalSolidList"/>
    <dgm:cxn modelId="{E8CA5A9A-6304-433C-8523-B0EF4407F0A3}" type="presParOf" srcId="{0DA77CCE-A870-41A8-91B4-27F3593E8314}" destId="{8DDD1148-8693-4B50-BC5B-3B683A7D06BA}" srcOrd="6" destOrd="0" presId="urn:microsoft.com/office/officeart/2018/2/layout/IconVerticalSolidList"/>
    <dgm:cxn modelId="{03B2C7F5-9726-4967-9F19-AD7B4803402A}" type="presParOf" srcId="{8DDD1148-8693-4B50-BC5B-3B683A7D06BA}" destId="{7B5DDAFD-4BAE-4B50-B82A-BD169FE3751F}" srcOrd="0" destOrd="0" presId="urn:microsoft.com/office/officeart/2018/2/layout/IconVerticalSolidList"/>
    <dgm:cxn modelId="{B7F42644-BFA6-47BE-9013-323A40AD4A86}" type="presParOf" srcId="{8DDD1148-8693-4B50-BC5B-3B683A7D06BA}" destId="{57F43250-4D01-4EB5-9159-123D502B8038}" srcOrd="1" destOrd="0" presId="urn:microsoft.com/office/officeart/2018/2/layout/IconVerticalSolidList"/>
    <dgm:cxn modelId="{ADE1222A-7325-464A-9767-E0008C9F46F6}" type="presParOf" srcId="{8DDD1148-8693-4B50-BC5B-3B683A7D06BA}" destId="{CC86CC0C-5177-42AA-AE65-3E828DF7188E}" srcOrd="2" destOrd="0" presId="urn:microsoft.com/office/officeart/2018/2/layout/IconVerticalSolidList"/>
    <dgm:cxn modelId="{731B0089-408C-48E3-97B1-693EDEF7B216}" type="presParOf" srcId="{8DDD1148-8693-4B50-BC5B-3B683A7D06BA}" destId="{4D852894-ABAD-4F42-816A-D9230B6890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90CF0-B63F-4F48-BFFC-557A11DB1D08}">
      <dsp:nvSpPr>
        <dsp:cNvPr id="0" name=""/>
        <dsp:cNvSpPr/>
      </dsp:nvSpPr>
      <dsp:spPr>
        <a:xfrm>
          <a:off x="0" y="70392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Preprocessing, train-test split.</a:t>
          </a:r>
        </a:p>
      </dsp:txBody>
      <dsp:txXfrm>
        <a:off x="64083" y="768003"/>
        <a:ext cx="5047218" cy="1184574"/>
      </dsp:txXfrm>
    </dsp:sp>
    <dsp:sp modelId="{B7BE6976-7CF6-4E76-9906-4965C1392515}">
      <dsp:nvSpPr>
        <dsp:cNvPr id="0" name=""/>
        <dsp:cNvSpPr/>
      </dsp:nvSpPr>
      <dsp:spPr>
        <a:xfrm>
          <a:off x="0" y="2111700"/>
          <a:ext cx="5175384" cy="13127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Models: LR, Random Forest, Gradient Boosting, SVC.</a:t>
          </a:r>
        </a:p>
      </dsp:txBody>
      <dsp:txXfrm>
        <a:off x="64083" y="2175783"/>
        <a:ext cx="5047218" cy="1184574"/>
      </dsp:txXfrm>
    </dsp:sp>
    <dsp:sp modelId="{F7482A1B-1356-40D4-9EBA-5C6B487D8AD3}">
      <dsp:nvSpPr>
        <dsp:cNvPr id="0" name=""/>
        <dsp:cNvSpPr/>
      </dsp:nvSpPr>
      <dsp:spPr>
        <a:xfrm>
          <a:off x="0" y="351948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Best model: Gradient Boosting (saved as .pkl).</a:t>
          </a:r>
        </a:p>
      </dsp:txBody>
      <dsp:txXfrm>
        <a:off x="64083" y="3583563"/>
        <a:ext cx="5047218" cy="1184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5EE63-2BF0-44E4-9AA2-76E9AD81BA9E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186B1-8E76-4A1F-9FB1-2E5B8AD539C5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BAB94-3971-4434-A4AE-A3DE40C8C259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Accuracy: overall correctness.</a:t>
          </a:r>
        </a:p>
      </dsp:txBody>
      <dsp:txXfrm>
        <a:off x="1099610" y="1878"/>
        <a:ext cx="7129989" cy="952043"/>
      </dsp:txXfrm>
    </dsp:sp>
    <dsp:sp modelId="{0C7434C9-7383-4C12-A240-62E42D9079E0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FD511-9EFE-4523-92AB-848C5ABAA9CF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FF6EB-5868-4F87-B4B5-C01F620BC3E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Precision (macro): correctness of positives across classes.</a:t>
          </a:r>
        </a:p>
      </dsp:txBody>
      <dsp:txXfrm>
        <a:off x="1099610" y="1191932"/>
        <a:ext cx="7129989" cy="952043"/>
      </dsp:txXfrm>
    </dsp:sp>
    <dsp:sp modelId="{8DBB9517-D428-4904-97DF-AAAB225984D0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C321E-B982-485D-AB73-0647A1E473CB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1EEE0-671A-432C-B154-0B3F5FF9C4B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Recall (macro): ability to find true instances.</a:t>
          </a:r>
        </a:p>
      </dsp:txBody>
      <dsp:txXfrm>
        <a:off x="1099610" y="2381986"/>
        <a:ext cx="7129989" cy="952043"/>
      </dsp:txXfrm>
    </dsp:sp>
    <dsp:sp modelId="{7B5DDAFD-4BAE-4B50-B82A-BD169FE3751F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F43250-4D01-4EB5-9159-123D502B8038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52894-ABAD-4F42-816A-D9230B68905A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F1 (macro): harmonic mean of precision &amp; recall.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ics.uci.edu/dataset/697/predict+students+dropout+and+academic+succ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Predicting Student Dropout and Academic Success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Fall 2025 - ECIS-690-U Capstone Project</a:t>
            </a:r>
          </a:p>
          <a:p>
            <a:pPr marL="0" indent="0" algn="ctr">
              <a:buNone/>
            </a:pPr>
            <a:r>
              <a:rPr lang="en-US" sz="2800" dirty="0"/>
              <a:t>Christian Brothers University</a:t>
            </a:r>
          </a:p>
          <a:p>
            <a:pPr marL="0" indent="0" algn="ctr">
              <a:buNone/>
            </a:pPr>
            <a:r>
              <a:rPr lang="en-US" sz="2800" dirty="0"/>
              <a:t>ML-powered Django Web Application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Professor,</a:t>
            </a:r>
          </a:p>
          <a:p>
            <a:pPr marL="0" indent="0" algn="ctr">
              <a:buNone/>
            </a:pPr>
            <a:r>
              <a:rPr lang="en-US" sz="2800" dirty="0"/>
              <a:t>Dr. Hari Nair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Student,</a:t>
            </a:r>
          </a:p>
          <a:p>
            <a:pPr marL="0" indent="0" algn="ctr">
              <a:buNone/>
            </a:pPr>
            <a:r>
              <a:rPr lang="en-US" sz="2800" dirty="0"/>
              <a:t>Sai Vineeth Reddy Suravi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Problem Statement &amp; Objective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092" y="2204616"/>
            <a:ext cx="7984429" cy="3435531"/>
          </a:xfrm>
        </p:spPr>
        <p:txBody>
          <a:bodyPr anchor="ctr">
            <a:normAutofit/>
          </a:bodyPr>
          <a:lstStyle/>
          <a:p>
            <a:pPr algn="just"/>
            <a:r>
              <a:rPr lang="en-US" sz="2100" dirty="0"/>
              <a:t>Develop a machine-learning powered web application that flags students likely to drop out, remain enrolled, or graduate (three-class classification). Early detection will enable universities to deploy targeted support and improve retention rates.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dirty="0"/>
              <a:t>Objective: Predict Dropout / Enrolled / Graduate.</a:t>
            </a:r>
          </a:p>
          <a:p>
            <a:pPr marL="0" indent="0" algn="just">
              <a:buNone/>
            </a:pPr>
            <a:endParaRPr lang="en-US" sz="2100" dirty="0"/>
          </a:p>
          <a:p>
            <a:pPr algn="just"/>
            <a:r>
              <a:rPr lang="en-US" sz="2100" dirty="0"/>
              <a:t>Build an ML model + Django app for real-time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030" y="1641652"/>
            <a:ext cx="5605629" cy="3788227"/>
          </a:xfrm>
        </p:spPr>
        <p:txBody>
          <a:bodyPr anchor="ctr">
            <a:normAutofit/>
          </a:bodyPr>
          <a:lstStyle/>
          <a:p>
            <a:endParaRPr lang="en-US" sz="2100" dirty="0"/>
          </a:p>
          <a:p>
            <a:r>
              <a:rPr lang="en-US" sz="2100" dirty="0"/>
              <a:t>UCI dataset: 4,424 records, 36 features.</a:t>
            </a:r>
          </a:p>
          <a:p>
            <a:r>
              <a:rPr lang="en-US" sz="2100" dirty="0"/>
              <a:t>Contains demographic, socio-economic, academic, economic data.</a:t>
            </a:r>
          </a:p>
          <a:p>
            <a:r>
              <a:rPr lang="en-US" sz="2100" dirty="0"/>
              <a:t>Target: Dropout, Enrolled, Graduate.</a:t>
            </a:r>
          </a:p>
          <a:p>
            <a:r>
              <a:rPr lang="en-US" sz="2100" dirty="0"/>
              <a:t>Source of the dataset: </a:t>
            </a:r>
            <a:r>
              <a:rPr lang="en-US" sz="2100" u="sng" dirty="0">
                <a:hlinkClick r:id="rId2"/>
              </a:rPr>
              <a:t>https://archive.ics.uci.edu/dataset/697/predict+students+dropout+and+academic+success</a:t>
            </a:r>
            <a:endParaRPr lang="en-US" sz="2100" dirty="0"/>
          </a:p>
          <a:p>
            <a:endParaRPr lang="en-US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8C1E302-9150-626E-B6A9-B9E742F8A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Technology Stack &amp; Commands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r>
              <a:rPr lang="en-US" sz="1900" dirty="0"/>
              <a:t>Stack: Python, Scikit-learn, Django, SQLite, Bootstrap.</a:t>
            </a:r>
          </a:p>
          <a:p>
            <a:r>
              <a:rPr lang="en-US" sz="1900" dirty="0"/>
              <a:t>Django Commands: </a:t>
            </a:r>
          </a:p>
          <a:p>
            <a:pPr lvl="1"/>
            <a:r>
              <a:rPr lang="en-US" dirty="0" err="1"/>
              <a:t>startproject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startapp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makemigrations</a:t>
            </a:r>
            <a:r>
              <a:rPr lang="en-US" dirty="0"/>
              <a:t>, migrate, </a:t>
            </a:r>
          </a:p>
          <a:p>
            <a:pPr lvl="1"/>
            <a:r>
              <a:rPr lang="en-US" dirty="0" err="1"/>
              <a:t>runserver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createsuperuser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ML Pipeline &amp; Model Selection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E8734A-36E6-2E85-987A-CAF527860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64072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7A6101-16B4-0D41-8D1E-10CF0C84E0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Django Web Application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Pages: Registration, Login, Prediction, Result, History, field information, customized admin</a:t>
            </a:r>
          </a:p>
          <a:p>
            <a:r>
              <a:rPr lang="en-US" sz="2800" dirty="0"/>
              <a:t>Custom registration with DOB validation.</a:t>
            </a:r>
          </a:p>
          <a:p>
            <a:r>
              <a:rPr lang="en-US" sz="2800" dirty="0"/>
              <a:t>Two-column prediction form using Bootstrap.</a:t>
            </a:r>
          </a:p>
          <a:p>
            <a:r>
              <a:rPr lang="en-US" sz="2800" dirty="0"/>
              <a:t>History Page with ML model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8" y="1138266"/>
            <a:ext cx="3737904" cy="765837"/>
          </a:xfrm>
        </p:spPr>
        <p:txBody>
          <a:bodyPr anchor="t">
            <a:normAutofit/>
          </a:bodyPr>
          <a:lstStyle/>
          <a:p>
            <a:r>
              <a:rPr lang="en-US" sz="2800" b="1" dirty="0"/>
              <a:t>Prediction Form Details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096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985" y="1986400"/>
            <a:ext cx="3408571" cy="4140080"/>
          </a:xfrm>
        </p:spPr>
        <p:txBody>
          <a:bodyPr>
            <a:normAutofit/>
          </a:bodyPr>
          <a:lstStyle/>
          <a:p>
            <a:r>
              <a:rPr lang="en-US" sz="2800" dirty="0"/>
              <a:t>Categorical fields via dropdowns (</a:t>
            </a:r>
            <a:r>
              <a:rPr lang="en-US" sz="2800" dirty="0" err="1"/>
              <a:t>TypedChoiceField</a:t>
            </a:r>
            <a:r>
              <a:rPr lang="en-US" sz="2800" dirty="0"/>
              <a:t>).</a:t>
            </a:r>
          </a:p>
          <a:p>
            <a:r>
              <a:rPr lang="en-US" sz="2800" dirty="0"/>
              <a:t>Numeric fields with min/max &amp; placeholders.</a:t>
            </a:r>
          </a:p>
          <a:p>
            <a:r>
              <a:rPr lang="en-US" sz="2800" dirty="0"/>
              <a:t>Aligned two-column layout with Bootstrap.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5C109D-7236-6327-FFEE-3D5EB8E6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468" y="771753"/>
            <a:ext cx="4356847" cy="5316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3394172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History &amp; Field Info Pages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61" y="2794053"/>
            <a:ext cx="2668031" cy="3410712"/>
          </a:xfrm>
        </p:spPr>
        <p:txBody>
          <a:bodyPr anchor="t">
            <a:normAutofit/>
          </a:bodyPr>
          <a:lstStyle/>
          <a:p>
            <a:r>
              <a:rPr lang="en-US" sz="1900" dirty="0"/>
              <a:t>History table: date, course, grades, result badge.</a:t>
            </a:r>
          </a:p>
          <a:p>
            <a:r>
              <a:rPr lang="en-US" sz="1900" dirty="0"/>
              <a:t>View details for each prediction.</a:t>
            </a:r>
          </a:p>
          <a:p>
            <a:r>
              <a:rPr lang="en-US" sz="1900" dirty="0"/>
              <a:t>Static Field Info page describes all dataset fields.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A5FB9BD-5A49-FFAF-061F-21A26B00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374" y="2917693"/>
            <a:ext cx="4801138" cy="2052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Admin &amp; Backend Management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845398" cy="3410712"/>
          </a:xfrm>
        </p:spPr>
        <p:txBody>
          <a:bodyPr anchor="t">
            <a:normAutofit/>
          </a:bodyPr>
          <a:lstStyle/>
          <a:p>
            <a:endParaRPr lang="en-US" sz="1900" dirty="0"/>
          </a:p>
          <a:p>
            <a:r>
              <a:rPr lang="en-US" sz="1900" dirty="0"/>
              <a:t>Custom admin for </a:t>
            </a:r>
            <a:r>
              <a:rPr lang="en-US" sz="1900" dirty="0" err="1"/>
              <a:t>PredictionHistory</a:t>
            </a:r>
            <a:r>
              <a:rPr lang="en-US" sz="1900" dirty="0"/>
              <a:t>.</a:t>
            </a:r>
          </a:p>
          <a:p>
            <a:r>
              <a:rPr lang="en-US" sz="1900" dirty="0"/>
              <a:t>List filters, search, grouped </a:t>
            </a:r>
            <a:r>
              <a:rPr lang="en-US" sz="1900" dirty="0" err="1"/>
              <a:t>fieldsets</a:t>
            </a:r>
            <a:r>
              <a:rPr lang="en-US" sz="1900" dirty="0"/>
              <a:t>.</a:t>
            </a:r>
          </a:p>
          <a:p>
            <a:r>
              <a:rPr lang="en-US" sz="1900" dirty="0" err="1"/>
              <a:t>Readonly</a:t>
            </a:r>
            <a:r>
              <a:rPr lang="en-US" sz="1900" dirty="0"/>
              <a:t> fields: </a:t>
            </a:r>
            <a:r>
              <a:rPr lang="en-US" sz="1900" dirty="0" err="1"/>
              <a:t>created_at</a:t>
            </a:r>
            <a:r>
              <a:rPr lang="en-US" sz="1900" dirty="0"/>
              <a:t>, </a:t>
            </a:r>
            <a:r>
              <a:rPr lang="en-US" sz="1900" dirty="0" err="1"/>
              <a:t>prediction_result</a:t>
            </a:r>
            <a:r>
              <a:rPr lang="en-US" sz="1900" dirty="0"/>
              <a:t>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75D9F-0467-C801-7E98-2AAC539D0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807665"/>
            <a:ext cx="5481156" cy="2985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sX0" fmla="*/ 0 w 5649003"/>
              <a:gd name="csY0" fmla="*/ 3994377 h 7988753"/>
              <a:gd name="csX1" fmla="*/ 2824502 w 5649003"/>
              <a:gd name="csY1" fmla="*/ 0 h 7988753"/>
              <a:gd name="csX2" fmla="*/ 5649004 w 5649003"/>
              <a:gd name="csY2" fmla="*/ 3994377 h 7988753"/>
              <a:gd name="csX3" fmla="*/ 2824502 w 5649003"/>
              <a:gd name="csY3" fmla="*/ 7988754 h 7988753"/>
              <a:gd name="csX4" fmla="*/ 0 w 5649003"/>
              <a:gd name="csY4" fmla="*/ 3994377 h 79887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CC7CE-3225-50FF-6F01-C09DE45BC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908" y="1911096"/>
            <a:ext cx="6041898" cy="2076651"/>
          </a:xfrm>
        </p:spPr>
        <p:txBody>
          <a:bodyPr anchor="b"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Thank You!!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8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379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Predicting Student Dropout and Academic Success</vt:lpstr>
      <vt:lpstr>Problem Statement &amp; Objective</vt:lpstr>
      <vt:lpstr>Dataset Description</vt:lpstr>
      <vt:lpstr>Technology Stack &amp; Commands</vt:lpstr>
      <vt:lpstr>ML Pipeline &amp; Model Selection</vt:lpstr>
      <vt:lpstr>Evaluation Metrics</vt:lpstr>
      <vt:lpstr>Django Web Application</vt:lpstr>
      <vt:lpstr>Prediction Form Details</vt:lpstr>
      <vt:lpstr>History &amp; Field Info Pages</vt:lpstr>
      <vt:lpstr>Admin &amp; Backend Management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        </cp:lastModifiedBy>
  <cp:revision>55</cp:revision>
  <dcterms:created xsi:type="dcterms:W3CDTF">2013-01-27T09:14:16Z</dcterms:created>
  <dcterms:modified xsi:type="dcterms:W3CDTF">2025-11-27T21:20:21Z</dcterms:modified>
  <cp:category/>
</cp:coreProperties>
</file>